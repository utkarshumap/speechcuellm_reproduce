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c7ed22ee3b87af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c7ed22ee3b87af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1c7ed22ee3b87af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1c7ed22ee3b87af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Two different baselines are shown because they use different setups: LLaMA-3.2-3B with LoRA (IEMOCAP only, 3 to 5 epochs, 2 GPU processes averaged) and Phi-3 mini with full fine-tuning for 1 epoch (IEMOCAP and MELD). Neither matches the paper's LLaMA-2-7B setup, so absolute numbers are not comparable to the published ones. Differences under 1 point are within run-to-run noise (the two GPU processes disagree by up to about 1 F1). Phase 2 diagnostic: the average-volume shift is enhancer gain (Spearman 0.995 MELD and 1.0 IEMOCAP after removing gain; same-bucket agreement 97.2% and 99.2% with level-matching). Denoiser cost is about 0.058 s per clip on CPU. Thresholds are global, not speaker-specific, and based on a 1000-clip sample per dataset.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06525" y="211075"/>
            <a:ext cx="8520600" cy="6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00000"/>
            <a:ext cx="8520600" cy="34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dirty="0">
                <a:solidFill>
                  <a:srgbClr val="1F3A5F"/>
                </a:solidFill>
              </a:rPr>
              <a:t>Problem: </a:t>
            </a:r>
            <a:r>
              <a:rPr sz="1300" b="0" i="0" dirty="0" err="1">
                <a:solidFill>
                  <a:srgbClr val="222B38"/>
                </a:solidFill>
              </a:rPr>
              <a:t>SpeechCueLLM</a:t>
            </a:r>
            <a:r>
              <a:rPr sz="1300" b="0" i="0" dirty="0">
                <a:solidFill>
                  <a:srgbClr val="222B38"/>
                </a:solidFill>
              </a:rPr>
              <a:t> turns acoustic cues into text for an LLM but assumes clean audio. On noisy real-world audio (MELD) the cues are unreliable and the gain nearly vanishes.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1" i="0" dirty="0">
                <a:solidFill>
                  <a:srgbClr val="1F3A5F"/>
                </a:solidFill>
              </a:rPr>
              <a:t>1) Group Name: </a:t>
            </a:r>
            <a:r>
              <a:rPr lang="en-IN" sz="1300" i="1" dirty="0">
                <a:solidFill>
                  <a:srgbClr val="6B7280"/>
                </a:solidFill>
              </a:rPr>
              <a:t>B24DS017</a:t>
            </a:r>
            <a:endParaRPr sz="1300" b="0" i="1" dirty="0">
              <a:solidFill>
                <a:srgbClr val="6B7280"/>
              </a:solidFill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1" i="0" dirty="0">
                <a:solidFill>
                  <a:srgbClr val="1F3A5F"/>
                </a:solidFill>
              </a:rPr>
              <a:t>2) Team Name, Roll no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dirty="0">
                <a:solidFill>
                  <a:srgbClr val="222B38"/>
                </a:solidFill>
              </a:rPr>
              <a:t>Utkarsh Umap – B24CS049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dirty="0">
                <a:solidFill>
                  <a:srgbClr val="222B38"/>
                </a:solidFill>
              </a:rPr>
              <a:t>Kaif Raza – B24DS017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dirty="0">
                <a:solidFill>
                  <a:srgbClr val="222B38"/>
                </a:solidFill>
              </a:rPr>
              <a:t>Kushal Agarwal – B24DS012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1" i="0" dirty="0">
                <a:solidFill>
                  <a:srgbClr val="1F3A5F"/>
                </a:solidFill>
              </a:rPr>
              <a:t>3) Novelty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dirty="0">
                <a:solidFill>
                  <a:srgbClr val="222B38"/>
                </a:solidFill>
              </a:rPr>
              <a:t>Denoising front-end (</a:t>
            </a:r>
            <a:r>
              <a:rPr sz="1300" b="0" i="0" dirty="0" err="1">
                <a:solidFill>
                  <a:srgbClr val="222B38"/>
                </a:solidFill>
              </a:rPr>
              <a:t>MetricGAN</a:t>
            </a:r>
            <a:r>
              <a:rPr sz="1300" b="0" i="0" dirty="0">
                <a:solidFill>
                  <a:srgbClr val="222B38"/>
                </a:solidFill>
              </a:rPr>
              <a:t>+) with a raw-vs-denoised threshold diagnostic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dirty="0">
                <a:solidFill>
                  <a:srgbClr val="222B38"/>
                </a:solidFill>
              </a:rPr>
              <a:t>Per-utterance blind SNR (WADA-SNR) given to the LLM as audio quality and hedged cue wording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dirty="0">
                <a:solidFill>
                  <a:srgbClr val="222B38"/>
                </a:solidFill>
              </a:rPr>
              <a:t>PEFT comparison on the improved pipeline: </a:t>
            </a:r>
            <a:r>
              <a:rPr sz="1300" b="0" i="0" dirty="0" err="1">
                <a:solidFill>
                  <a:srgbClr val="222B38"/>
                </a:solidFill>
              </a:rPr>
              <a:t>LoRA</a:t>
            </a:r>
            <a:r>
              <a:rPr sz="1300" b="0" i="0" dirty="0">
                <a:solidFill>
                  <a:srgbClr val="222B38"/>
                </a:solidFill>
              </a:rPr>
              <a:t> rank sweep, </a:t>
            </a:r>
            <a:r>
              <a:rPr sz="1300" b="0" i="0" dirty="0" err="1">
                <a:solidFill>
                  <a:srgbClr val="222B38"/>
                </a:solidFill>
              </a:rPr>
              <a:t>QLoRA</a:t>
            </a:r>
            <a:r>
              <a:rPr sz="1300" b="0" i="0" dirty="0">
                <a:solidFill>
                  <a:srgbClr val="222B38"/>
                </a:solidFill>
              </a:rPr>
              <a:t>, </a:t>
            </a:r>
            <a:r>
              <a:rPr sz="1300" b="0" i="0" dirty="0" err="1">
                <a:solidFill>
                  <a:srgbClr val="222B38"/>
                </a:solidFill>
              </a:rPr>
              <a:t>DoRA</a:t>
            </a:r>
            <a:endParaRPr sz="1300" b="0" i="0" dirty="0">
              <a:solidFill>
                <a:srgbClr val="222B38"/>
              </a:solidFill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1" i="0" dirty="0">
                <a:solidFill>
                  <a:srgbClr val="1F3A5F"/>
                </a:solidFill>
              </a:rPr>
              <a:t>4) Contributions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1" i="0" dirty="0">
                <a:solidFill>
                  <a:srgbClr val="222B38"/>
                </a:solidFill>
              </a:rPr>
              <a:t>Member 1 (Utkarsh): </a:t>
            </a:r>
            <a:r>
              <a:rPr sz="1300" b="0" i="0" dirty="0">
                <a:solidFill>
                  <a:srgbClr val="222B38"/>
                </a:solidFill>
              </a:rPr>
              <a:t>Phi-3 mini baseline reproduction (B0 and B1 on IEMOCAP and MELD)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1" i="0" dirty="0">
                <a:solidFill>
                  <a:srgbClr val="222B38"/>
                </a:solidFill>
              </a:rPr>
              <a:t>Member 2 (Kaif): </a:t>
            </a:r>
            <a:r>
              <a:rPr sz="1300" b="0" i="0" dirty="0" err="1">
                <a:solidFill>
                  <a:srgbClr val="222B38"/>
                </a:solidFill>
              </a:rPr>
              <a:t>MetricGAN</a:t>
            </a:r>
            <a:r>
              <a:rPr sz="1300" b="0" i="0" dirty="0">
                <a:solidFill>
                  <a:srgbClr val="222B38"/>
                </a:solidFill>
              </a:rPr>
              <a:t>+ denoising front-end and raw-vs-denoised feature diagnostic</a:t>
            </a:r>
          </a:p>
          <a:p>
            <a:pPr marL="310896" indent="-201168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1" i="0" dirty="0">
                <a:solidFill>
                  <a:srgbClr val="222B38"/>
                </a:solidFill>
              </a:rPr>
              <a:t>Member 3 (Kushal): </a:t>
            </a:r>
            <a:r>
              <a:rPr sz="1300" b="0" i="0" dirty="0">
                <a:solidFill>
                  <a:srgbClr val="222B38"/>
                </a:solidFill>
              </a:rPr>
              <a:t>LLaMA-3.2-3B </a:t>
            </a:r>
            <a:r>
              <a:rPr sz="1300" b="0" i="0" dirty="0" err="1">
                <a:solidFill>
                  <a:srgbClr val="222B38"/>
                </a:solidFill>
              </a:rPr>
              <a:t>LoRA</a:t>
            </a:r>
            <a:r>
              <a:rPr sz="1300" b="0" i="0" dirty="0">
                <a:solidFill>
                  <a:srgbClr val="222B38"/>
                </a:solidFill>
              </a:rPr>
              <a:t> baseline reproduction (B0 and B1 on IEMOCAP)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Architecture</a:t>
            </a:r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74320" y="114300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Input Speech Audio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(raw waveform)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55648" y="114300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D6E6FA"/>
          </a:solidFill>
          <a:ln w="19050">
            <a:solidFill>
              <a:srgbClr val="2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F3A5F"/>
                </a:solidFill>
              </a:rPr>
              <a:t>Denoising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MetricGAN+  [NEW]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36976" y="114300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Acoustic Feature Extraction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volume, pitch, speaking rate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18304" y="114300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Stage 1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Threshold Calculation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99632" y="114300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Stage 2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Speaker-Specific Thresholding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80960" y="114300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D6E6FA"/>
          </a:solidFill>
          <a:ln w="19050">
            <a:solidFill>
              <a:srgbClr val="2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F3A5F"/>
                </a:solidFill>
              </a:rPr>
              <a:t>Stage 3  [MOD]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Categorization + SNR confidence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0" y="301752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D6E6FA"/>
          </a:solidFill>
          <a:ln w="19050">
            <a:solidFill>
              <a:srgbClr val="2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F3A5F"/>
                </a:solidFill>
              </a:rPr>
              <a:t>Stage 4  [MOD]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SNR-aware Description Generation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99632" y="301752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Full Prompt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Instruction + Context + Speech Descriptions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18304" y="301752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LLM Backbone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fine-tuned with LoRA / QLoRA / DoRA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6976" y="3017520"/>
            <a:ext cx="1188720" cy="786384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Predicted Emotion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(single label)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89888" y="2194560"/>
            <a:ext cx="1920240" cy="566928"/>
          </a:xfrm>
          <a:prstGeom prst="roundRect">
            <a:avLst>
              <a:gd name="adj" fmla="val 12000"/>
            </a:avLst>
          </a:prstGeom>
          <a:solidFill>
            <a:srgbClr val="D6E6FA"/>
          </a:solidFill>
          <a:ln w="19050">
            <a:solidFill>
              <a:srgbClr val="2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F3A5F"/>
                </a:solidFill>
              </a:rPr>
              <a:t>Blind SNR Estimation  [NEW]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WADA-SNR + VAD cross-check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9632" y="4041648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E9EBE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22B38"/>
                </a:solidFill>
              </a:rPr>
              <a:t>Dialogue Context</a:t>
            </a:r>
          </a:p>
          <a:p>
            <a:pPr algn="ctr"/>
            <a:r>
              <a:rPr sz="900" b="0" i="0">
                <a:solidFill>
                  <a:srgbClr val="222B38"/>
                </a:solidFill>
              </a:rPr>
              <a:t>(text transcript)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463040" y="153619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944368" y="153619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25696" y="153619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907024" y="153619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388352" y="153619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7388352" y="341071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5907024" y="341071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4425696" y="3410712"/>
            <a:ext cx="29260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94776" y="1929384"/>
            <a:ext cx="0" cy="1088136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350008" y="1929384"/>
            <a:ext cx="0" cy="265176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310128" y="2478024"/>
            <a:ext cx="4745736" cy="0"/>
          </a:xfrm>
          <a:prstGeom prst="line">
            <a:avLst/>
          </a:prstGeom>
          <a:ln w="19050">
            <a:solidFill>
              <a:srgbClr val="2B5F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55864" y="1929384"/>
            <a:ext cx="0" cy="548640"/>
          </a:xfrm>
          <a:prstGeom prst="line">
            <a:avLst/>
          </a:prstGeom>
          <a:ln w="19050">
            <a:solidFill>
              <a:srgbClr val="2B5F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4" y="2478024"/>
            <a:ext cx="0" cy="539496"/>
          </a:xfrm>
          <a:prstGeom prst="line">
            <a:avLst/>
          </a:prstGeom>
          <a:ln w="19050">
            <a:solidFill>
              <a:srgbClr val="2B5F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793992" y="3803904"/>
            <a:ext cx="0" cy="237744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160520" y="220370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2B5FA8"/>
                </a:solidFill>
              </a:rPr>
              <a:t>reliability signal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" y="4069080"/>
            <a:ext cx="274320" cy="182880"/>
          </a:xfrm>
          <a:prstGeom prst="roundRect">
            <a:avLst/>
          </a:prstGeom>
          <a:solidFill>
            <a:srgbClr val="D6E6FA"/>
          </a:solidFill>
          <a:ln w="15875">
            <a:solidFill>
              <a:srgbClr val="2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58952" y="4032504"/>
            <a:ext cx="2651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 i="0">
                <a:solidFill>
                  <a:srgbClr val="222B38"/>
                </a:solidFill>
              </a:rPr>
              <a:t>New / modified component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80" y="4379976"/>
            <a:ext cx="274320" cy="182880"/>
          </a:xfrm>
          <a:prstGeom prst="roundRect">
            <a:avLst/>
          </a:prstGeom>
          <a:solidFill>
            <a:srgbClr val="E9EBE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58952" y="4343400"/>
            <a:ext cx="2651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 i="0">
                <a:solidFill>
                  <a:srgbClr val="222B38"/>
                </a:solidFill>
              </a:rPr>
              <a:t>Original SpeechCueLLM component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Results and Findings in Tabular Format </a:t>
            </a:r>
            <a:r>
              <a:rPr lang="en-GB" sz="1300" dirty="0"/>
              <a:t>(Report till now)</a:t>
            </a:r>
            <a:endParaRPr sz="1300" dirty="0"/>
          </a:p>
        </p:txBody>
      </p:sp>
      <p:sp>
        <p:nvSpPr>
          <p:cNvPr id="67" name="TextBox 66"/>
          <p:cNvSpPr txBox="1"/>
          <p:nvPr/>
        </p:nvSpPr>
        <p:spPr>
          <a:xfrm>
            <a:off x="310896" y="1069848"/>
            <a:ext cx="4526279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Phase 1: weighted F1 on test (%)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38343" y="1069848"/>
            <a:ext cx="3794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Phase 2: raw vs denoised features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830831"/>
              </p:ext>
            </p:extLst>
          </p:nvPr>
        </p:nvGraphicFramePr>
        <p:xfrm>
          <a:off x="310896" y="1371600"/>
          <a:ext cx="4526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 rowSpan="2"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Setup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IEMOCAP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MELD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B0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B1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B0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B1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Paper: LLaMA-2-7B, LoRA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70.11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72.02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67.44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67.07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Ours: LLaMA-3.2-3B, 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67.68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67.65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dirty="0">
                          <a:solidFill>
                            <a:schemeClr val="tx1"/>
                          </a:solidFill>
                        </a:rPr>
                        <a:t>64.76</a:t>
                      </a:r>
                      <a:endParaRPr sz="11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dirty="0">
                          <a:solidFill>
                            <a:schemeClr val="tx1"/>
                          </a:solidFill>
                        </a:rPr>
                        <a:t>64.92</a:t>
                      </a:r>
                      <a:endParaRPr sz="11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Ours: Phi-3 mini, full FT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71.1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71.3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66.5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22B38"/>
                          </a:solidFill>
                        </a:rPr>
                        <a:t>67.0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5038343" y="1371600"/>
          <a:ext cx="379475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MELD ρ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IEMOCAP ρ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Thresholds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Volume (avg)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Level-match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Volume variation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B38"/>
                          </a:solidFill>
                        </a:rPr>
                        <a:t>Recompute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Pitch (avg)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Either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Pitch variation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B38"/>
                          </a:solidFill>
                        </a:rPr>
                        <a:t>Recompute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Speaking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B38"/>
                          </a:solidFill>
                        </a:rPr>
                        <a:t>0.46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B38"/>
                          </a:solidFill>
                        </a:rPr>
                        <a:t>Recompute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310896" y="3200400"/>
            <a:ext cx="85222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 i="0">
                <a:solidFill>
                  <a:srgbClr val="222B38"/>
                </a:solidFill>
              </a:rPr>
              <a:t>Speech descriptions help little in our reproductions (Phi-3: +0.2 to +0.5 W-F1; LLaMA-3.2-3B: none), versus +1.9 on IEMOCAP in the paper. Single seed, so not conclusive.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 i="0">
                <a:solidFill>
                  <a:srgbClr val="222B38"/>
                </a:solidFill>
              </a:rPr>
              <a:t>Denoising changes average volume by gain only, but alters pitch variation, volume variation and speaking rate, so those thresholds are recomputed on denoised audio.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 i="1">
                <a:solidFill>
                  <a:srgbClr val="6B7280"/>
                </a:solidFill>
              </a:rPr>
              <a:t>B2 (F1 with denoised features): pending.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896" y="4462272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W-F1 = weighted F1. Paper: mean of 3 runs. Ours: single run; LLaMA-3.2-3B = best-epoch mean, Phi-3 mini = 1 epoch. ρ = Spearman, raw vs denoised (1000 clips per dataset). Level-match = rescale denoised audio to raw RMS and keep the original thresholds.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616</Words>
  <Application>Microsoft Office PowerPoint</Application>
  <PresentationFormat>On-screen Show (16:9)</PresentationFormat>
  <Paragraphs>97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Problem Statement</vt:lpstr>
      <vt:lpstr>Proposed Architecture</vt:lpstr>
      <vt:lpstr>Results and Findings in Tabular Format (Report till now)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Utkarsh Umap</cp:lastModifiedBy>
  <cp:revision>2</cp:revision>
  <dcterms:modified xsi:type="dcterms:W3CDTF">2026-10-09T11:51:56Z</dcterms:modified>
</cp:coreProperties>
</file>